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A8CC"/>
                </a:solidFill>
                <a:latin typeface="Segoe UI"/>
              </a:defRPr>
            </a:pPr>
            <a:r>
              <a:t>UniSnap</a:t>
            </a:r>
          </a:p>
          <a:p>
            <a:pPr algn="ctr">
              <a:defRPr sz="2400" i="1">
                <a:solidFill>
                  <a:srgbClr val="F0F0F0"/>
                </a:solidFill>
                <a:latin typeface="Segoe UI"/>
              </a:defRPr>
            </a:pPr>
            <a:r>
              <a:t>Έξυπνη Οργάνωση &amp; Διαχείριση Ακαδημαϊκών Σημειώσεων με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E6E6"/>
                </a:solidFill>
                <a:latin typeface="Segoe UI"/>
              </a:defRPr>
            </a:pPr>
            <a:r>
              <a:t>Φοιτητής: Χαράλαμπος Τσακηρίδης (ΑΜ: 3180190)</a:t>
            </a:r>
          </a:p>
          <a:p>
            <a:pPr algn="ctr">
              <a:defRPr sz="1800" b="1">
                <a:solidFill>
                  <a:srgbClr val="00A8CC"/>
                </a:solidFill>
                <a:latin typeface="Segoe UI"/>
              </a:defRPr>
            </a:pPr>
            <a:r>
              <a:t>Μάθημα: Αλληλεπίδραση Ανθρώπου - Υπολογιστή</a:t>
            </a:r>
          </a:p>
          <a:p>
            <a:pPr algn="ctr">
              <a:defRPr sz="1600" i="1">
                <a:solidFill>
                  <a:srgbClr val="F77F00"/>
                </a:solidFill>
                <a:latin typeface="Segoe UI"/>
              </a:defRPr>
            </a:pPr>
            <a:r>
              <a:t>Snap, Save, Study — Χωρίς Άγχος.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600" b="1">
                <a:solidFill>
                  <a:srgbClr val="0C1C36"/>
                </a:solidFill>
                <a:latin typeface="Segoe UI"/>
              </a:defRPr>
            </a:pPr>
            <a:r>
              <a:t>Βασικές Λειτουργίες της Εφαρμογής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1C36"/>
                </a:solidFill>
                <a:latin typeface="Segoe UI"/>
              </a:defRPr>
            </a:pPr>
            <a:r>
              <a:t>1. Ακαριαία Λήψη &amp; Αποθήκευση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Ο χρήστης βγάζει φωτογραφία και μεταβαίνει αμέσως στη Συλλογή (Gallery) σε Save Mode. Το OCR παρακάμπτεται στη λήψη για αποφυγή καθυστερήσεων.</a:t>
            </a:r>
          </a:p>
          <a:p>
            <a:pPr>
              <a:spcBef>
                <a:spcPts val="1200"/>
              </a:spcBef>
              <a:defRPr sz="1800" b="1">
                <a:solidFill>
                  <a:srgbClr val="0C1C36"/>
                </a:solidFill>
                <a:latin typeface="Segoe UI"/>
              </a:defRPr>
            </a:pPr>
            <a:r>
              <a:t>2. Αυτόματο Κλείσιμο Παραθύρων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Κατά τη δημιουργία φακέλου στη συλλογή, η εφαρμογή αποθηκεύει το snap και καλεί αυτόματα διπλό Navigator.pop, επιστρέφοντας αμέσως στην κάμερα.</a:t>
            </a:r>
          </a:p>
          <a:p>
            <a:pPr>
              <a:spcBef>
                <a:spcPts val="1200"/>
              </a:spcBef>
              <a:defRPr sz="1800" b="1">
                <a:solidFill>
                  <a:srgbClr val="0C1C36"/>
                </a:solidFill>
                <a:latin typeface="Segoe UI"/>
              </a:defRPr>
            </a:pPr>
            <a:r>
              <a:t>3. Οι Σημειώσεις μου (Notepad)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Σημειωματάριο κειμένων οργανωμένο σε κατηγορίες, με πλήρη οθόνη προβολής και inline Textfield επεξεργασία.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486400" cy="45720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15544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  <a:latin typeface="Consolas"/>
              </a:defRPr>
            </a:pPr>
            <a:r>
              <a:t>// camera_screen.dart</a:t>
            </a:r>
            <a:br/>
            <a:r>
              <a:t>void _processCameraImage(String path) {</a:t>
            </a:r>
            <a:br/>
            <a:r>
              <a:t>  Navigator.push(</a:t>
            </a:r>
            <a:br/>
            <a:r>
              <a:t>    context,</a:t>
            </a:r>
            <a:br/>
            <a:r>
              <a:t>    MaterialPageRoute(</a:t>
            </a:r>
            <a:br/>
            <a:r>
              <a:t>      builder: (context) =&gt; GalleryScreen(</a:t>
            </a:r>
            <a:br/>
            <a:r>
              <a:t>        imagePathToSave: path,</a:t>
            </a:r>
            <a:br/>
            <a:r>
              <a:t>        ocrTextToSave: "", // Instant post-snap save</a:t>
            </a:r>
            <a:br/>
            <a:r>
              <a:t>      ),</a:t>
            </a:r>
            <a:br/>
            <a:r>
              <a:t>    ),</a:t>
            </a:r>
            <a:br/>
            <a:r>
              <a:t>  );</a:t>
            </a:r>
            <a:br/>
            <a:r>
              <a:t>}</a:t>
            </a:r>
            <a:br/>
            <a:br/>
            <a:r>
              <a:t>// gallery_screen.dart</a:t>
            </a:r>
            <a:br/>
            <a:r>
              <a:t>setState(() =&gt; globalUserTopics.add({"course": cat, ...}));</a:t>
            </a:r>
            <a:br/>
            <a:r>
              <a:t>saveData();</a:t>
            </a:r>
            <a:br/>
            <a:r>
              <a:t>Navigator.pop(context); // Close Dialog</a:t>
            </a:r>
            <a:br/>
            <a:r>
              <a:t>Navigator.pop(context); // Close GalleryScreen -&gt; Go to Camera!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600" b="1">
                <a:solidFill>
                  <a:srgbClr val="0C1C36"/>
                </a:solidFill>
                <a:latin typeface="Segoe UI"/>
              </a:defRPr>
            </a:pPr>
            <a:r>
              <a:t>Τεχνολογίες (Technology Stack)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6"/>
                </a:solidFill>
                <a:latin typeface="Segoe UI"/>
              </a:defRPr>
            </a:pPr>
            <a:r>
              <a:t>• Flutter &amp; Dart Framework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Κοινός κώδικας για Android/iOS με native επιδόσεις και responsive Widgets.</a:t>
            </a:r>
          </a:p>
          <a:p>
            <a:pPr>
              <a:spcBef>
                <a:spcPts val="1000"/>
              </a:spcBef>
              <a:defRPr sz="1600" b="1">
                <a:solidFill>
                  <a:srgbClr val="0C1C36"/>
                </a:solidFill>
                <a:latin typeface="Segoe UI"/>
              </a:defRPr>
            </a:pPr>
            <a:r>
              <a:t>• On-Device ML Kit OCR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Ακαριαία, offline εξαγωγή κειμένου προστατεύοντας τα προσωπικά δεδομένα.</a:t>
            </a:r>
          </a:p>
          <a:p>
            <a:pPr>
              <a:spcBef>
                <a:spcPts val="1000"/>
              </a:spcBef>
              <a:defRPr sz="1600" b="1">
                <a:solidFill>
                  <a:srgbClr val="0C1C36"/>
                </a:solidFill>
                <a:latin typeface="Segoe UI"/>
              </a:defRPr>
            </a:pPr>
            <a:r>
              <a:t>• Local Notifications &amp; Timezone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Ακριβής προγραμματισμός υπενθυμίσεων 1 ημέρα πριν το deadline.</a:t>
            </a:r>
          </a:p>
          <a:p>
            <a:pPr>
              <a:spcBef>
                <a:spcPts val="1000"/>
              </a:spcBef>
              <a:defRPr sz="1600" b="1">
                <a:solidFill>
                  <a:srgbClr val="0C1C36"/>
                </a:solidFill>
                <a:latin typeface="Segoe UI"/>
              </a:defRPr>
            </a:pPr>
            <a:r>
              <a:t>• SharedPreferences Persistence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Αποθήκευση ρυθμίσεων και ολόκληρης της βάσης δεδομένων σε JSON.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486400" cy="45720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15544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0F0F0"/>
                </a:solidFill>
                <a:latin typeface="Consolas"/>
              </a:defRPr>
            </a:pPr>
            <a:r>
              <a:t>// global_state.dart</a:t>
            </a:r>
            <a:br/>
            <a:r>
              <a:t>List&lt;Map&lt;String, dynamic&gt;&gt; globalUserTopics = [];</a:t>
            </a:r>
            <a:br/>
            <a:r>
              <a:t>List&lt;Map&lt;String, dynamic&gt;&gt; globalUserNotes = [];</a:t>
            </a:r>
            <a:br/>
            <a:br/>
            <a:r>
              <a:t>// helpers.dart - Persistence via JSON serialization</a:t>
            </a:r>
            <a:br/>
            <a:r>
              <a:t>Future&lt;void&gt; loadData() async {</a:t>
            </a:r>
            <a:br/>
            <a:r>
              <a:t>  final prefs = await SharedPreferences.getInstance();</a:t>
            </a:r>
            <a:br/>
            <a:r>
              <a:t>  </a:t>
            </a:r>
            <a:br/>
            <a:r>
              <a:t>  final String? topicsString = prefs.getString('savedTopics');</a:t>
            </a:r>
            <a:br/>
            <a:r>
              <a:t>  if (topicsString != null) </a:t>
            </a:r>
            <a:br/>
            <a:r>
              <a:t>    globalUserTopics = _parseTopics(jsonDecode(topicsString));</a:t>
            </a:r>
            <a:br/>
            <a:r>
              <a:t>    </a:t>
            </a:r>
            <a:br/>
            <a:r>
              <a:t>  final String? notesString = prefs.getString('savedNotes');</a:t>
            </a:r>
            <a:br/>
            <a:r>
              <a:t>  if (notesString != null) </a:t>
            </a:r>
            <a:br/>
            <a:r>
              <a:t>    globalUserNotes = List&lt;Map&lt;String, dynamic&gt;&gt;.from(</a:t>
            </a:r>
            <a:br/>
            <a:r>
              <a:t>      jsonDecode(notesString)</a:t>
            </a:r>
            <a:br/>
            <a:r>
              <a:t>  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600" b="1">
                <a:solidFill>
                  <a:srgbClr val="0C1C36"/>
                </a:solidFill>
                <a:latin typeface="Segoe UI"/>
              </a:defRPr>
            </a:pPr>
            <a:r>
              <a:t>Σχεδιαστικές Επιλογές &amp;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6"/>
                </a:solidFill>
                <a:latin typeface="Segoe UI"/>
              </a:defRPr>
            </a:pPr>
            <a:r>
              <a:t>• Curated Harmonious Color Palettes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Cyan/Blue accents για τεχνολογικό ύφος. Warm Amber/Yellow στο Notepad που προσομοιώνει φυσικό χαρτί σημειώσεων.</a:t>
            </a:r>
          </a:p>
          <a:p>
            <a:pPr>
              <a:spcBef>
                <a:spcPts val="1200"/>
              </a:spcBef>
              <a:defRPr sz="1600" b="1">
                <a:solidFill>
                  <a:srgbClr val="0C1C36"/>
                </a:solidFill>
                <a:latin typeface="Segoe UI"/>
              </a:defRPr>
            </a:pPr>
            <a:r>
              <a:t>• Notepad View Experience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Πλήρης οθόνη ανάγνωσης με κατάλληλο line-height (1.6) και custom scrolling για άνετη μελέτη.</a:t>
            </a:r>
          </a:p>
          <a:p>
            <a:pPr>
              <a:spcBef>
                <a:spcPts val="1200"/>
              </a:spcBef>
              <a:defRPr sz="1600" b="1">
                <a:solidFill>
                  <a:srgbClr val="0C1C36"/>
                </a:solidFill>
                <a:latin typeface="Segoe UI"/>
              </a:defRPr>
            </a:pPr>
            <a:r>
              <a:t>• Dynamic Inline Writing Pad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Στο NoteViewScreen ο χρήστης επεξεργάζεται απευθείας το κείμενο inline χωρίς ενοχλητικά popup παράθυρα.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486400" cy="45720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15544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0F0F0"/>
                </a:solidFill>
                <a:latin typeface="Consolas"/>
              </a:defRPr>
            </a:pPr>
            <a:r>
              <a:t>// note_view_screen.dart - Dynamic notepad TextField</a:t>
            </a:r>
            <a:br/>
            <a:r>
              <a:t>_isEditing</a:t>
            </a:r>
            <a:br/>
            <a:r>
              <a:t>    ? TextField(</a:t>
            </a:r>
            <a:br/>
            <a:r>
              <a:t>        controller: _textController,</a:t>
            </a:r>
            <a:br/>
            <a:r>
              <a:t>        maxLines: null,</a:t>
            </a:r>
            <a:br/>
            <a:r>
              <a:t>        keyboardType: TextInputType.multiline,</a:t>
            </a:r>
            <a:br/>
            <a:r>
              <a:t>        autofocus: true,</a:t>
            </a:r>
            <a:br/>
            <a:r>
              <a:t>        style: TextStyle(</a:t>
            </a:r>
            <a:br/>
            <a:r>
              <a:t>          fontSize: 16.0,</a:t>
            </a:r>
            <a:br/>
            <a:r>
              <a:t>          height: 1.6, // Readable lined spacing</a:t>
            </a:r>
            <a:br/>
            <a:r>
              <a:t>          color: isDark ? Colors.white : Colors.black87,</a:t>
            </a:r>
            <a:br/>
            <a:r>
              <a:t>        ),</a:t>
            </a:r>
            <a:br/>
            <a:r>
              <a:t>        decoration: const InputDecoration(</a:t>
            </a:r>
            <a:br/>
            <a:r>
              <a:t>          border: InputBorder.none,</a:t>
            </a:r>
            <a:br/>
            <a:r>
              <a:t>          hintText: "Γράψτε εδώ...",</a:t>
            </a:r>
            <a:br/>
            <a:r>
              <a:t>        ),</a:t>
            </a:r>
            <a:br/>
            <a:r>
              <a:t>      )</a:t>
            </a:r>
            <a:br/>
            <a:r>
              <a:t>    : SelectableText(</a:t>
            </a:r>
            <a:br/>
            <a:r>
              <a:t>        _currentContent,</a:t>
            </a:r>
            <a:br/>
            <a:r>
              <a:t>        style: TextStyle(fontSize: 16.0, height: 1.6),</a:t>
            </a:r>
            <a:br/>
            <a:r>
              <a:t>      ),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600" b="1">
                <a:solidFill>
                  <a:srgbClr val="0C1C36"/>
                </a:solidFill>
                <a:latin typeface="Segoe UI"/>
              </a:defRPr>
            </a:pPr>
            <a:r>
              <a:t>Ενσωμάτωση Υπολογιστικής Όρασης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6"/>
                </a:solidFill>
                <a:latin typeface="Segoe UI"/>
              </a:defRPr>
            </a:pPr>
            <a:r>
              <a:t>1. Προεπεξεργασία σε Background Isolate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Η επεξεργασία εικόνας pixel-by-pixel γίνεται σε ξεχωριστό thread (Dart Isolate) μέσω της compute() για αποτροπή κολλημάτων στο UI.</a:t>
            </a:r>
          </a:p>
          <a:p>
            <a:pPr>
              <a:spcBef>
                <a:spcPts val="1000"/>
              </a:spcBef>
              <a:defRPr sz="1600" b="1">
                <a:solidFill>
                  <a:srgbClr val="0C1C36"/>
                </a:solidFill>
                <a:latin typeface="Segoe UI"/>
              </a:defRPr>
            </a:pPr>
            <a:r>
              <a:t>2. Φίλτρα Βελτίωσης OCR (img package)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• Grayscale: Αφαίρεση χρωματικού θορύβου.</a:t>
            </a:r>
            <a:br/>
            <a:r>
              <a:t>• Contrast: Ενίσχυση αντίθεσης (+150% boost).</a:t>
            </a:r>
            <a:br/>
            <a:r>
              <a:t>• Sharpen: 3x3 Convolution matrix για όξυνση χαρακτήρων.</a:t>
            </a:r>
          </a:p>
          <a:p>
            <a:pPr>
              <a:spcBef>
                <a:spcPts val="1000"/>
              </a:spcBef>
              <a:defRPr sz="1600" b="1">
                <a:solidFill>
                  <a:srgbClr val="0C1C36"/>
                </a:solidFill>
                <a:latin typeface="Segoe UI"/>
              </a:defRPr>
            </a:pPr>
            <a:r>
              <a:t>3. On-Device Google ML Kit Text Recognition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Σάρωση της φιλτραρισμένης εικόνας για εξαγωγή κειμένου.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486400" cy="45720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15544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nsolas"/>
              </a:defRPr>
            </a:pPr>
            <a:r>
              <a:t>// helpers.dart - Image Preprocessing Pipeline</a:t>
            </a:r>
            <a:br/>
            <a:r>
              <a:t>img.Image _preprocessIsolate(img.Image source) {</a:t>
            </a:r>
            <a:br/>
            <a:r>
              <a:t>  img.grayscale(source); // 1. Grayscale</a:t>
            </a:r>
            <a:br/>
            <a:r>
              <a:t>  img.contrast(source, contrast: 150); // 2. Contrast</a:t>
            </a:r>
            <a:br/>
            <a:r>
              <a:t>  // 3. Sharpening filter using 3x3 convolution matrix</a:t>
            </a:r>
            <a:br/>
            <a:r>
              <a:t>  img.convolution(</a:t>
            </a:r>
            <a:br/>
            <a:r>
              <a:t>    source, </a:t>
            </a:r>
            <a:br/>
            <a:r>
              <a:t>    filter: [0, -1, 0, -1, 5, -1, 0, -1, 0], </a:t>
            </a:r>
            <a:br/>
            <a:r>
              <a:t>    div: 1</a:t>
            </a:r>
            <a:br/>
            <a:r>
              <a:t>  );</a:t>
            </a:r>
            <a:br/>
            <a:r>
              <a:t>  return source;</a:t>
            </a:r>
            <a:br/>
            <a:r>
              <a:t>}</a:t>
            </a:r>
            <a:br/>
            <a:br/>
            <a:r>
              <a:t>// Run OCR</a:t>
            </a:r>
            <a:br/>
            <a:r>
              <a:t>final inputImage = InputImage.fromFilePath(processedPath);</a:t>
            </a:r>
            <a:br/>
            <a:r>
              <a:t>final textRecognizer = TextRecognizer(...);</a:t>
            </a:r>
            <a:br/>
            <a:r>
              <a:t>final RecognizedText recognized = await textRecognizer...;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600" b="1">
                <a:solidFill>
                  <a:srgbClr val="0C1C36"/>
                </a:solidFill>
                <a:latin typeface="Segoe UI"/>
              </a:defRPr>
            </a:pPr>
            <a:r>
              <a:t>Ενσωμάτωση Επεξεργασίας Φυσικής Γλώσσας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6"/>
                </a:solidFill>
                <a:latin typeface="Segoe UI"/>
              </a:defRPr>
            </a:pPr>
            <a:r>
              <a:t>1. Custom Date Extraction Engine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Ανάλυση συντακτικού και εξαγωγή ημερομηνιών σε πολλαπλές μορφές (αριθμητικές, ελληνικές, αγγλικές). Φιλτράρει παρελθοντικές ημερομηνίες.</a:t>
            </a:r>
          </a:p>
          <a:p>
            <a:pPr>
              <a:spcBef>
                <a:spcPts val="1200"/>
              </a:spcBef>
              <a:defRPr sz="1600" b="1">
                <a:solidFill>
                  <a:srgbClr val="0C1C36"/>
                </a:solidFill>
                <a:latin typeface="Segoe UI"/>
              </a:defRPr>
            </a:pPr>
            <a:r>
              <a:t>2. Notification Scheduling (tz package)</a:t>
            </a:r>
          </a:p>
          <a:p>
            <a:pPr>
              <a:defRPr sz="1300">
                <a:solidFill>
                  <a:srgbClr val="212529"/>
                </a:solidFill>
                <a:latin typeface="Segoe UI"/>
              </a:defRPr>
            </a:pPr>
            <a:r>
              <a:t>Ακριβής υπολογισμός και αυτόματος προγραμματισμός τοπικής push ειδοποίησης ακριβώς 1 ημέρα πριν το deadline στις 09:00 π.μ.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486400" cy="45720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15544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0F0F0"/>
                </a:solidFill>
                <a:latin typeface="Consolas"/>
              </a:defRPr>
            </a:pPr>
            <a:r>
              <a:t>// date_extractor.dart - NLP Regex date patterns</a:t>
            </a:r>
            <a:br/>
            <a:r>
              <a:t>final patterns = [</a:t>
            </a:r>
            <a:br/>
            <a:r>
              <a:t>  RegExp(r'\b(\d{1,2})[\/\-\.](\d{1,2})[\/\-\.](\d{2,4})\b'),</a:t>
            </a:r>
            <a:br/>
            <a:r>
              <a:t>  RegExp(r'\b(\d{1,2})\s+(Ιανουαρίου|...|Δεκεμβρίου)\b'),</a:t>
            </a:r>
            <a:br/>
            <a:r>
              <a:t>  RegExp(r'\b(\d{1,2})\s+(January|...|December)\b')</a:t>
            </a:r>
            <a:br/>
            <a:r>
              <a:t>];</a:t>
            </a:r>
            <a:br/>
            <a:br/>
            <a:r>
              <a:t>// notification_service.dart - Schedule 1 day before at 09:00</a:t>
            </a:r>
            <a:br/>
            <a:r>
              <a:t>await _plugin!.zonedSchedule(</a:t>
            </a:r>
            <a:br/>
            <a:r>
              <a:t>  id,</a:t>
            </a:r>
            <a:br/>
            <a:r>
              <a:t>  'UniSnap Υπενθύμιση: $courseName',</a:t>
            </a:r>
            <a:br/>
            <a:r>
              <a:t>  'Η προθεσμία λήγει αύριο στις $dateString! ⏰',</a:t>
            </a:r>
            <a:br/>
            <a:r>
              <a:t>  tz.TZDateTime.from(scheduledDate, tz.local),</a:t>
            </a:r>
            <a:br/>
            <a:r>
              <a:t>  const NotificationDetails(...),</a:t>
            </a:r>
            <a:br/>
            <a:r>
              <a:t>  androidScheduleMode: AndroidScheduleMode.exactAllowWhileIdle,</a:t>
            </a:r>
            <a:br/>
            <a:r>
              <a:t>  uiLocalNotificationDateInterpretation: ...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600" b="1">
                <a:solidFill>
                  <a:srgbClr val="0C1C36"/>
                </a:solidFill>
                <a:latin typeface="Segoe UI"/>
              </a:defRPr>
            </a:pPr>
            <a:r>
              <a:t>Εξέλιξη, Δυσκολίες &amp; Cumulative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1C36"/>
                </a:solidFill>
                <a:latin typeface="Segoe UI"/>
              </a:defRPr>
            </a:pPr>
            <a:r>
              <a:t>• Εξέλιξη του Έργου</a:t>
            </a:r>
          </a:p>
          <a:p>
            <a:pPr>
              <a:defRPr sz="1350">
                <a:solidFill>
                  <a:srgbClr val="212529"/>
                </a:solidFill>
                <a:latin typeface="Segoe UI"/>
              </a:defRPr>
            </a:pPr>
            <a:r>
              <a:t>Ξεκίνησε ως μια απλή εφαρμογή σάρωσης φωτογραφιών και εξελίχθηκε σε έναν πλήρη βοηθό μελέτης. Η προσθήκη του ψηφιακού Notepad σημειώσεων συμπλήρωσε το κενό της διαχείρισης κειμένου, καθιστώντας την εφαρμογή ένα ολοκληρωμένο οικοσύστημα οργάνωσης.</a:t>
            </a:r>
          </a:p>
          <a:p>
            <a:pPr>
              <a:spcBef>
                <a:spcPts val="1400"/>
              </a:spcBef>
              <a:defRPr sz="1700" b="1">
                <a:solidFill>
                  <a:srgbClr val="0C1C36"/>
                </a:solidFill>
                <a:latin typeface="Segoe UI"/>
              </a:defRPr>
            </a:pPr>
            <a:r>
              <a:t>• Βασικές Δυσκολίες &amp; Λύσεις</a:t>
            </a:r>
          </a:p>
          <a:p>
            <a:pPr>
              <a:defRPr sz="1350">
                <a:solidFill>
                  <a:srgbClr val="212529"/>
                </a:solidFill>
                <a:latin typeface="Segoe UI"/>
              </a:defRPr>
            </a:pPr>
            <a:r>
              <a:t>1. UI Freezing κατά το Post-Snap OCR: Η αυτόματη επεξεργασία μεγάλων εικόνων προκαλούσε lag.</a:t>
            </a:r>
            <a:br/>
            <a:r>
              <a:t>    *Λύση:* Διαχωρισμός snap και OCR. Η αποθήκευση γίνεται πλέον ακαριαία, και το OCR εκτελείται χειροκίνητα κατόπιν επιλογής του χρήστη (On-Demand) στην πλήρη οθόνη.</a:t>
            </a:r>
            <a:br/>
            <a:r>
              <a:t>2. LateInitialization Errors στις ειδοποιήσεις emulators: Λύθηκε με defensive code, dynamic null checks και Try-Catch blocks ώστε να μην κρασάρει ποτέ η εφαρμογή.</a:t>
            </a:r>
          </a:p>
          <a:p>
            <a:pPr>
              <a:spcBef>
                <a:spcPts val="1400"/>
              </a:spcBef>
              <a:defRPr sz="1700" b="1">
                <a:solidFill>
                  <a:srgbClr val="0C1C36"/>
                </a:solidFill>
                <a:latin typeface="Segoe UI"/>
              </a:defRPr>
            </a:pPr>
            <a:r>
              <a:t>• Βαθμός Επίτευξης Αρχικών Στόχων: 100%</a:t>
            </a:r>
          </a:p>
          <a:p>
            <a:pPr>
              <a:defRPr sz="1350">
                <a:solidFill>
                  <a:srgbClr val="212529"/>
                </a:solidFill>
                <a:latin typeface="Segoe UI"/>
              </a:defRPr>
            </a:pPr>
            <a:r>
              <a:t>Όλοι οι αρχικοί και bonus στόχοι (instant αποθήκευση, έξυπνοι φάκελοι, offline OCR, αυτόματη ανίχνευση deadlines &amp; push notifications, ψηφιακό Notepad) ολοκληρώθηκαν με απόλυτη επιτυχία, δημιουργώντας μια σταθερή, offline-first και premium εφαρμογή.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